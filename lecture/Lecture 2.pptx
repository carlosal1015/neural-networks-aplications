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58000" cy="9144000"/>
  <p:embeddedFontLst>
    <p:embeddedFont>
      <p:font typeface="Economica"/>
      <p:regular r:id="rId31"/>
      <p:bold r:id="rId32"/>
      <p:italic r:id="rId33"/>
      <p:boldItalic r:id="rId34"/>
    </p:embeddedFont>
    <p:embeddedFont>
      <p:font typeface="Open Sans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Economica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Economica-italic.fntdata"/><Relationship Id="rId10" Type="http://schemas.openxmlformats.org/officeDocument/2006/relationships/slide" Target="slides/slide5.xml"/><Relationship Id="rId32" Type="http://schemas.openxmlformats.org/officeDocument/2006/relationships/font" Target="fonts/Economica-bold.fntdata"/><Relationship Id="rId13" Type="http://schemas.openxmlformats.org/officeDocument/2006/relationships/slide" Target="slides/slide8.xml"/><Relationship Id="rId35" Type="http://schemas.openxmlformats.org/officeDocument/2006/relationships/font" Target="fonts/OpenSans-regular.fntdata"/><Relationship Id="rId12" Type="http://schemas.openxmlformats.org/officeDocument/2006/relationships/slide" Target="slides/slide7.xml"/><Relationship Id="rId34" Type="http://schemas.openxmlformats.org/officeDocument/2006/relationships/font" Target="fonts/Economica-boldItalic.fntdata"/><Relationship Id="rId15" Type="http://schemas.openxmlformats.org/officeDocument/2006/relationships/slide" Target="slides/slide10.xml"/><Relationship Id="rId37" Type="http://schemas.openxmlformats.org/officeDocument/2006/relationships/font" Target="fonts/OpenSans-italic.fntdata"/><Relationship Id="rId14" Type="http://schemas.openxmlformats.org/officeDocument/2006/relationships/slide" Target="slides/slide9.xml"/><Relationship Id="rId36" Type="http://schemas.openxmlformats.org/officeDocument/2006/relationships/font" Target="fonts/OpenSans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font" Target="fonts/OpenSans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f3c41f0a1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af3c41f0a1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1340099cb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b1340099cb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1340099cb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1340099cb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f3c41f0a1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af3c41f0a1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1340099cb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b1340099cb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b1340099cb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b1340099cb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1340099cb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b1340099cb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1340099cb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b1340099cb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f3c41f0a1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af3c41f0a1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f3c41f0a1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af3c41f0a1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af3c41f0a1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af3c41f0a1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b1340099cb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b1340099cb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b1340099cb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b1340099cb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b1340099cb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b1340099cb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b1340099cb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b1340099cb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b1340099cb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b1340099cb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b1340099cb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b1340099cb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b1340099cb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b1340099cb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b1340099cb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b1340099cb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b1340099cb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b1340099cb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b1340099cb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b1340099cb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b1340099cb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b1340099cb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b1340099cb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b1340099cb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af3c41f0a1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af3c41f0a1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1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Relationship Id="rId4" Type="http://schemas.openxmlformats.org/officeDocument/2006/relationships/hyperlink" Target="https://arxiv.org/pdf/2308.08468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4.png"/><Relationship Id="rId5" Type="http://schemas.openxmlformats.org/officeDocument/2006/relationships/image" Target="../media/image17.png"/><Relationship Id="rId6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18.png"/><Relationship Id="rId5" Type="http://schemas.openxmlformats.org/officeDocument/2006/relationships/image" Target="../media/image20.png"/><Relationship Id="rId6" Type="http://schemas.openxmlformats.org/officeDocument/2006/relationships/image" Target="../media/image2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29.png"/><Relationship Id="rId10" Type="http://schemas.openxmlformats.org/officeDocument/2006/relationships/image" Target="../media/image26.png"/><Relationship Id="rId9" Type="http://schemas.openxmlformats.org/officeDocument/2006/relationships/image" Target="../media/image22.png"/><Relationship Id="rId5" Type="http://schemas.openxmlformats.org/officeDocument/2006/relationships/image" Target="../media/image30.png"/><Relationship Id="rId6" Type="http://schemas.openxmlformats.org/officeDocument/2006/relationships/image" Target="../media/image16.png"/><Relationship Id="rId7" Type="http://schemas.openxmlformats.org/officeDocument/2006/relationships/image" Target="../media/image20.png"/><Relationship Id="rId8" Type="http://schemas.openxmlformats.org/officeDocument/2006/relationships/image" Target="../media/image2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www.sciencedirect.com/science/article/abs/pii/S0021999118307125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1.png"/><Relationship Id="rId4" Type="http://schemas.openxmlformats.org/officeDocument/2006/relationships/image" Target="../media/image2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1.png"/><Relationship Id="rId4" Type="http://schemas.openxmlformats.org/officeDocument/2006/relationships/image" Target="../media/image25.png"/><Relationship Id="rId5" Type="http://schemas.openxmlformats.org/officeDocument/2006/relationships/image" Target="../media/image2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3.png"/><Relationship Id="rId4" Type="http://schemas.openxmlformats.org/officeDocument/2006/relationships/image" Target="../media/image2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2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3.png"/><Relationship Id="rId4" Type="http://schemas.openxmlformats.org/officeDocument/2006/relationships/image" Target="../media/image38.png"/><Relationship Id="rId5" Type="http://schemas.openxmlformats.org/officeDocument/2006/relationships/image" Target="../media/image2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5.png"/><Relationship Id="rId4" Type="http://schemas.openxmlformats.org/officeDocument/2006/relationships/image" Target="../media/image32.png"/><Relationship Id="rId5" Type="http://schemas.openxmlformats.org/officeDocument/2006/relationships/image" Target="../media/image3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5.png"/><Relationship Id="rId4" Type="http://schemas.openxmlformats.org/officeDocument/2006/relationships/image" Target="../media/image32.png"/><Relationship Id="rId5" Type="http://schemas.openxmlformats.org/officeDocument/2006/relationships/image" Target="../media/image37.png"/><Relationship Id="rId6" Type="http://schemas.openxmlformats.org/officeDocument/2006/relationships/image" Target="../media/image3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5.png"/><Relationship Id="rId4" Type="http://schemas.openxmlformats.org/officeDocument/2006/relationships/image" Target="../media/image32.png"/><Relationship Id="rId5" Type="http://schemas.openxmlformats.org/officeDocument/2006/relationships/image" Target="../media/image40.png"/><Relationship Id="rId6" Type="http://schemas.openxmlformats.org/officeDocument/2006/relationships/image" Target="../media/image3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5.png"/><Relationship Id="rId4" Type="http://schemas.openxmlformats.org/officeDocument/2006/relationships/image" Target="../media/image32.png"/><Relationship Id="rId5" Type="http://schemas.openxmlformats.org/officeDocument/2006/relationships/image" Target="../media/image40.png"/><Relationship Id="rId6" Type="http://schemas.openxmlformats.org/officeDocument/2006/relationships/image" Target="../media/image43.png"/><Relationship Id="rId7" Type="http://schemas.openxmlformats.org/officeDocument/2006/relationships/image" Target="../media/image39.png"/><Relationship Id="rId8" Type="http://schemas.openxmlformats.org/officeDocument/2006/relationships/image" Target="../media/image3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5.png"/><Relationship Id="rId4" Type="http://schemas.openxmlformats.org/officeDocument/2006/relationships/image" Target="../media/image32.png"/><Relationship Id="rId5" Type="http://schemas.openxmlformats.org/officeDocument/2006/relationships/image" Target="../media/image36.png"/><Relationship Id="rId6" Type="http://schemas.openxmlformats.org/officeDocument/2006/relationships/image" Target="../media/image4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Physics informed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neural networks</a:t>
            </a:r>
            <a:endParaRPr/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PINN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Ordinary differential equations</a:t>
            </a:r>
            <a:endParaRPr/>
          </a:p>
        </p:txBody>
      </p:sp>
      <p:pic>
        <p:nvPicPr>
          <p:cNvPr id="69" name="Google Shape;6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500" y="1306350"/>
            <a:ext cx="5594526" cy="3457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76250" y="514700"/>
            <a:ext cx="2526951" cy="79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26667" y="1674217"/>
            <a:ext cx="2724799" cy="61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89420" y="2571746"/>
            <a:ext cx="1484355" cy="51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47825" y="3369600"/>
            <a:ext cx="2086325" cy="75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Partial differential equations</a:t>
            </a:r>
            <a:endParaRPr/>
          </a:p>
        </p:txBody>
      </p:sp>
      <p:pic>
        <p:nvPicPr>
          <p:cNvPr id="79" name="Google Shape;7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175" y="1102750"/>
            <a:ext cx="5208776" cy="381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99951" y="484975"/>
            <a:ext cx="3188250" cy="2223057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34377" y="2978225"/>
            <a:ext cx="2031674" cy="161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General formulation</a:t>
            </a:r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200" y="1597450"/>
            <a:ext cx="8839203" cy="2349333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6"/>
          <p:cNvSpPr txBox="1"/>
          <p:nvPr/>
        </p:nvSpPr>
        <p:spPr>
          <a:xfrm>
            <a:off x="3624550" y="4290275"/>
            <a:ext cx="2734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>
                <a:solidFill>
                  <a:schemeClr val="hlink"/>
                </a:solidFill>
                <a:hlinkClick r:id="rId4"/>
              </a:rPr>
              <a:t>https://arxiv.org/pdf/2308.08468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Solving with neural networks</a:t>
            </a:r>
            <a:endParaRPr/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1938" y="1050375"/>
            <a:ext cx="6300119" cy="3691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Residual</a:t>
            </a:r>
            <a:endParaRPr/>
          </a:p>
        </p:txBody>
      </p:sp>
      <p:pic>
        <p:nvPicPr>
          <p:cNvPr id="100" name="Google Shape;10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1725" y="2121150"/>
            <a:ext cx="8274676" cy="114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3150" y="1214100"/>
            <a:ext cx="8520601" cy="483366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8"/>
          <p:cNvSpPr txBox="1"/>
          <p:nvPr/>
        </p:nvSpPr>
        <p:spPr>
          <a:xfrm>
            <a:off x="410525" y="3783175"/>
            <a:ext cx="8169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If we compare this residual with Equation (2.1), we know that it must be 0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Residual loss</a:t>
            </a:r>
            <a:endParaRPr/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924" y="1211600"/>
            <a:ext cx="7239226" cy="10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9"/>
          <p:cNvSpPr txBox="1"/>
          <p:nvPr/>
        </p:nvSpPr>
        <p:spPr>
          <a:xfrm>
            <a:off x="370275" y="2390650"/>
            <a:ext cx="8169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Using automatic differentiation, we can calculate the residual for each (t,x) in out training database, giving us the residual loss: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10" name="Google Shape;11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66325" y="3269725"/>
            <a:ext cx="3577800" cy="10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9"/>
          <p:cNvPicPr preferRelativeResize="0"/>
          <p:nvPr/>
        </p:nvPicPr>
        <p:blipFill rotWithShape="1">
          <a:blip r:embed="rId5">
            <a:alphaModFix/>
          </a:blip>
          <a:srcRect b="39882" l="0" r="0" t="24125"/>
          <a:stretch/>
        </p:blipFill>
        <p:spPr>
          <a:xfrm>
            <a:off x="6884369" y="315925"/>
            <a:ext cx="1947919" cy="83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36450" y="319378"/>
            <a:ext cx="1947919" cy="8243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Initial condition</a:t>
            </a:r>
            <a:endParaRPr/>
          </a:p>
        </p:txBody>
      </p:sp>
      <p:sp>
        <p:nvSpPr>
          <p:cNvPr id="118" name="Google Shape;118;p20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The initial condition is a function that must be replicated on t = 0 (ODE or PDE)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The loss here can be defined as the distance on t=0 to g(x):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59436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/>
          </a:p>
        </p:txBody>
      </p:sp>
      <p:pic>
        <p:nvPicPr>
          <p:cNvPr id="119" name="Google Shape;11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3300" y="485388"/>
            <a:ext cx="3939000" cy="49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81613" y="2382650"/>
            <a:ext cx="3938999" cy="7806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06038" y="3546252"/>
            <a:ext cx="3490131" cy="78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Boundary conditions</a:t>
            </a:r>
            <a:endParaRPr/>
          </a:p>
        </p:txBody>
      </p:sp>
      <p:sp>
        <p:nvSpPr>
          <p:cNvPr id="127" name="Google Shape;127;p2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/>
              <a:t>In a PDE, the boundary condition define how the function behaves in the boundary of the spatial domain. B[u(x,t)] must be zero for all t,x in boundary.</a:t>
            </a:r>
            <a:endParaRPr/>
          </a:p>
        </p:txBody>
      </p:sp>
      <p:pic>
        <p:nvPicPr>
          <p:cNvPr id="128" name="Google Shape;12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0350" y="611450"/>
            <a:ext cx="3671949" cy="40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4525" y="2083275"/>
            <a:ext cx="2774925" cy="272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88025" y="2151893"/>
            <a:ext cx="3671951" cy="8397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71988" y="3211725"/>
            <a:ext cx="3180113" cy="83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Error function</a:t>
            </a:r>
            <a:endParaRPr/>
          </a:p>
        </p:txBody>
      </p:sp>
      <p:sp>
        <p:nvSpPr>
          <p:cNvPr id="137" name="Google Shape;137;p22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/>
              <a:t>Equation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/>
              <a:t>Initial condition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BR"/>
              <a:t>Boundary conditions</a:t>
            </a:r>
            <a:endParaRPr b="1"/>
          </a:p>
        </p:txBody>
      </p:sp>
      <p:pic>
        <p:nvPicPr>
          <p:cNvPr id="138" name="Google Shape;13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8625" y="1560625"/>
            <a:ext cx="2670225" cy="75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560625"/>
            <a:ext cx="4332724" cy="585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25743" y="2495268"/>
            <a:ext cx="3078974" cy="53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71907" y="2571747"/>
            <a:ext cx="2681544" cy="53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991125" y="3529222"/>
            <a:ext cx="2120076" cy="48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736026" y="3431138"/>
            <a:ext cx="2793273" cy="6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249793" y="468343"/>
            <a:ext cx="3950526" cy="43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718702" y="4317424"/>
            <a:ext cx="3516297" cy="53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Training loop  (see implementation)</a:t>
            </a:r>
            <a:endParaRPr/>
          </a:p>
        </p:txBody>
      </p:sp>
      <p:sp>
        <p:nvSpPr>
          <p:cNvPr id="151" name="Google Shape;151;p23"/>
          <p:cNvSpPr txBox="1"/>
          <p:nvPr/>
        </p:nvSpPr>
        <p:spPr>
          <a:xfrm>
            <a:off x="477900" y="1239300"/>
            <a:ext cx="8245800" cy="29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For each step: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AutoNum type="arabicPeriod"/>
            </a:pPr>
            <a:r>
              <a:rPr lang="pt-BR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Compute points for boundary and initial conditions so we can evaluate the losses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AutoNum type="arabicPeriod"/>
            </a:pPr>
            <a:r>
              <a:rPr lang="pt-BR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Compute points uniformly on the domain so we can evaluate residual loss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AutoNum type="arabicPeriod"/>
            </a:pPr>
            <a:r>
              <a:rPr lang="pt-BR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Backpropagate the gradients from the loss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AutoNum type="arabicPeriod"/>
            </a:pPr>
            <a:r>
              <a:rPr lang="pt-BR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Update the parameters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2" name="Google Shape;152;p23"/>
          <p:cNvSpPr txBox="1"/>
          <p:nvPr/>
        </p:nvSpPr>
        <p:spPr>
          <a:xfrm>
            <a:off x="1125900" y="3717900"/>
            <a:ext cx="7176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Physics-informed neural networks: A deep learning framework for solving forward and inverse problems involving nonlinear partial differential equations - ScienceDirect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Burgers equation</a:t>
            </a:r>
            <a:endParaRPr/>
          </a:p>
        </p:txBody>
      </p:sp>
      <p:pic>
        <p:nvPicPr>
          <p:cNvPr id="158" name="Google Shape;15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99625"/>
            <a:ext cx="8839199" cy="1613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Burgers equation</a:t>
            </a:r>
            <a:endParaRPr/>
          </a:p>
        </p:txBody>
      </p:sp>
      <p:pic>
        <p:nvPicPr>
          <p:cNvPr id="164" name="Google Shape;16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99625"/>
            <a:ext cx="8839199" cy="1613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3065349"/>
            <a:ext cx="4381500" cy="111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Burgers equation</a:t>
            </a:r>
            <a:endParaRPr/>
          </a:p>
        </p:txBody>
      </p:sp>
      <p:pic>
        <p:nvPicPr>
          <p:cNvPr id="171" name="Google Shape;17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99625"/>
            <a:ext cx="8839199" cy="1613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3065349"/>
            <a:ext cx="4381500" cy="111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42500" y="2263450"/>
            <a:ext cx="3108600" cy="243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Burgers equation</a:t>
            </a:r>
            <a:endParaRPr/>
          </a:p>
        </p:txBody>
      </p:sp>
      <p:pic>
        <p:nvPicPr>
          <p:cNvPr id="179" name="Google Shape;17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4300" y="1063225"/>
            <a:ext cx="5605201" cy="392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Schrödinger</a:t>
            </a:r>
            <a:r>
              <a:rPr lang="pt-BR"/>
              <a:t> equations</a:t>
            </a:r>
            <a:endParaRPr/>
          </a:p>
        </p:txBody>
      </p:sp>
      <p:pic>
        <p:nvPicPr>
          <p:cNvPr id="185" name="Google Shape;18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500" y="1275325"/>
            <a:ext cx="4075799" cy="122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Schrödinger</a:t>
            </a:r>
            <a:r>
              <a:rPr lang="pt-BR"/>
              <a:t> equations</a:t>
            </a:r>
            <a:endParaRPr/>
          </a:p>
        </p:txBody>
      </p:sp>
      <p:pic>
        <p:nvPicPr>
          <p:cNvPr id="191" name="Google Shape;19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500" y="1275325"/>
            <a:ext cx="4075799" cy="12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7242" y="1222017"/>
            <a:ext cx="2063049" cy="27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Schrödinger</a:t>
            </a:r>
            <a:r>
              <a:rPr lang="pt-BR"/>
              <a:t> equations</a:t>
            </a:r>
            <a:endParaRPr/>
          </a:p>
        </p:txBody>
      </p:sp>
      <p:pic>
        <p:nvPicPr>
          <p:cNvPr id="198" name="Google Shape;19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500" y="1275325"/>
            <a:ext cx="4075799" cy="12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62200" y="2139475"/>
            <a:ext cx="4626599" cy="2494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37242" y="1222017"/>
            <a:ext cx="2063049" cy="27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Schrödinger equations</a:t>
            </a:r>
            <a:endParaRPr/>
          </a:p>
        </p:txBody>
      </p:sp>
      <p:pic>
        <p:nvPicPr>
          <p:cNvPr id="206" name="Google Shape;20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500" y="1275325"/>
            <a:ext cx="4075799" cy="12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57800" y="1676275"/>
            <a:ext cx="5631001" cy="32799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31"/>
          <p:cNvSpPr txBox="1"/>
          <p:nvPr/>
        </p:nvSpPr>
        <p:spPr>
          <a:xfrm>
            <a:off x="639900" y="3418200"/>
            <a:ext cx="1579500" cy="8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(f evaluated on 20.000 points)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09" name="Google Shape;209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5442" y="3028317"/>
            <a:ext cx="2063049" cy="27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Navier-Stokes system of equations</a:t>
            </a:r>
            <a:endParaRPr/>
          </a:p>
        </p:txBody>
      </p:sp>
      <p:pic>
        <p:nvPicPr>
          <p:cNvPr id="215" name="Google Shape;21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2150" y="1315825"/>
            <a:ext cx="6659700" cy="102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421025"/>
            <a:ext cx="8839201" cy="209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16300" y="2989225"/>
            <a:ext cx="1710600" cy="39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Navier-Stokes system of equations</a:t>
            </a:r>
            <a:endParaRPr/>
          </a:p>
        </p:txBody>
      </p:sp>
      <p:pic>
        <p:nvPicPr>
          <p:cNvPr id="223" name="Google Shape;22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2150" y="1315825"/>
            <a:ext cx="6659700" cy="102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421025"/>
            <a:ext cx="8839201" cy="209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16300" y="2989225"/>
            <a:ext cx="1710600" cy="39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34200" y="2951850"/>
            <a:ext cx="2382479" cy="39815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33"/>
          <p:cNvSpPr/>
          <p:nvPr/>
        </p:nvSpPr>
        <p:spPr>
          <a:xfrm>
            <a:off x="3450600" y="3045925"/>
            <a:ext cx="1206900" cy="210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Navier-Stokes system of equations</a:t>
            </a:r>
            <a:endParaRPr/>
          </a:p>
        </p:txBody>
      </p:sp>
      <p:pic>
        <p:nvPicPr>
          <p:cNvPr id="233" name="Google Shape;23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2150" y="1315825"/>
            <a:ext cx="6659700" cy="102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421025"/>
            <a:ext cx="8839201" cy="209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06600" y="2943775"/>
            <a:ext cx="5735918" cy="83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49825" y="621600"/>
            <a:ext cx="2382479" cy="39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Navier-Stokes system of equations</a:t>
            </a:r>
            <a:endParaRPr/>
          </a:p>
        </p:txBody>
      </p:sp>
      <p:pic>
        <p:nvPicPr>
          <p:cNvPr id="242" name="Google Shape;24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2150" y="1315825"/>
            <a:ext cx="6659700" cy="102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421025"/>
            <a:ext cx="8839201" cy="209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06600" y="2943775"/>
            <a:ext cx="5735918" cy="83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400" y="4194775"/>
            <a:ext cx="8839203" cy="7791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3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26200" y="3827838"/>
            <a:ext cx="2215725" cy="366925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35"/>
          <p:cNvSpPr txBox="1"/>
          <p:nvPr/>
        </p:nvSpPr>
        <p:spPr>
          <a:xfrm>
            <a:off x="1347450" y="3801450"/>
            <a:ext cx="64203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We approximate                                      using: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48" name="Google Shape;248;p3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449825" y="621600"/>
            <a:ext cx="2382479" cy="39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Navier-Stokes system of equations</a:t>
            </a:r>
            <a:endParaRPr/>
          </a:p>
        </p:txBody>
      </p:sp>
      <p:pic>
        <p:nvPicPr>
          <p:cNvPr id="254" name="Google Shape;25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2150" y="1315825"/>
            <a:ext cx="6659700" cy="102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421025"/>
            <a:ext cx="8839201" cy="209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49825" y="621600"/>
            <a:ext cx="2382479" cy="39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9150" y="2767127"/>
            <a:ext cx="7545706" cy="2207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Exercises</a:t>
            </a:r>
            <a:endParaRPr/>
          </a:p>
        </p:txBody>
      </p:sp>
      <p:sp>
        <p:nvSpPr>
          <p:cNvPr id="263" name="Google Shape;263;p3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t-BR"/>
              <a:t>Finish the implementation for burgers equation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t-BR"/>
              <a:t>Solve the following system of equations, known as Lotka-Volterra: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4500" y="2022600"/>
            <a:ext cx="2727275" cy="157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