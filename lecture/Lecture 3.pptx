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conomica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bold.fntdata"/><Relationship Id="rId21" Type="http://schemas.openxmlformats.org/officeDocument/2006/relationships/font" Target="fonts/Economica-regular.fntdata"/><Relationship Id="rId24" Type="http://schemas.openxmlformats.org/officeDocument/2006/relationships/font" Target="fonts/Economica-boldItalic.fntdata"/><Relationship Id="rId23" Type="http://schemas.openxmlformats.org/officeDocument/2006/relationships/font" Target="fonts/Economic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1793da03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1793da0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f3cde95c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f3cde95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f3cde95c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f3cde95c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f3cde95c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f3cde95c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1793da03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1793da0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1793da03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1793da03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f3cde95c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f3cde95c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f3cde95c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f3cde95c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793da03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1793da03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1793da03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1793da03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1793da03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1793da03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f3cde95c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f3cde95c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1793da03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1793da03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f3cde95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f3cde95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3EZqAjPUe72PMFBSO95F-1eADwcRveTf/view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hyperlink" Target="https://astroautomata.com/PySR/api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8031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Symbolic regression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What we want now?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Analytical soluto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Genetic algorithms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8717" l="0" r="0" t="0"/>
          <a:stretch/>
        </p:blipFill>
        <p:spPr>
          <a:xfrm>
            <a:off x="4637600" y="356425"/>
            <a:ext cx="4082100" cy="42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25" y="1765525"/>
            <a:ext cx="4340899" cy="2362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Arithmetic trees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925" y="815388"/>
            <a:ext cx="3224150" cy="34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Mutation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700" y="1192600"/>
            <a:ext cx="6280425" cy="33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Crossover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950" y="213125"/>
            <a:ext cx="4771649" cy="471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Fitness function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225" y="4229875"/>
            <a:ext cx="4845077" cy="4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 title="pys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1700" y="1188263"/>
            <a:ext cx="4919069" cy="276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293" y="1734325"/>
            <a:ext cx="3016375" cy="23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PySR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38" y="1278225"/>
            <a:ext cx="7463122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symbolic regression loop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949" y="1486425"/>
            <a:ext cx="7141601" cy="309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Use cases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4" cy="2995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Benchmark</a:t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1550" y="934450"/>
            <a:ext cx="5868749" cy="394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example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027" y="152125"/>
            <a:ext cx="3308876" cy="48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 txBox="1"/>
          <p:nvPr/>
        </p:nvSpPr>
        <p:spPr>
          <a:xfrm>
            <a:off x="1027075" y="1620875"/>
            <a:ext cx="31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Open Sans"/>
                <a:ea typeface="Open Sans"/>
                <a:cs typeface="Open Sans"/>
                <a:sym typeface="Open Sans"/>
              </a:rPr>
              <a:t>We can use custom operators!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50" y="1936750"/>
            <a:ext cx="4013352" cy="7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/>
        </p:nvSpPr>
        <p:spPr>
          <a:xfrm>
            <a:off x="876025" y="37740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rgbClr val="607D8B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PySRRegressor Reference - PySR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Coupling with neural networks</a:t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893311" y="1918550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1103137" y="212307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X</a:t>
            </a:r>
            <a:endParaRPr/>
          </a:p>
        </p:txBody>
      </p:sp>
      <p:sp>
        <p:nvSpPr>
          <p:cNvPr id="142" name="Google Shape;142;p25"/>
          <p:cNvSpPr/>
          <p:nvPr/>
        </p:nvSpPr>
        <p:spPr>
          <a:xfrm>
            <a:off x="7185637" y="199452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y</a:t>
            </a:r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2821814" y="1475075"/>
            <a:ext cx="3386100" cy="1542900"/>
          </a:xfrm>
          <a:prstGeom prst="cube">
            <a:avLst>
              <a:gd fmla="val 25000" name="adj"/>
            </a:avLst>
          </a:prstGeom>
          <a:solidFill>
            <a:srgbClr val="000000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44" name="Google Shape;144;p25"/>
          <p:cNvGrpSpPr/>
          <p:nvPr/>
        </p:nvGrpSpPr>
        <p:grpSpPr>
          <a:xfrm>
            <a:off x="3468166" y="2026880"/>
            <a:ext cx="1939646" cy="781707"/>
            <a:chOff x="1550074" y="1632944"/>
            <a:chExt cx="5565700" cy="2243063"/>
          </a:xfrm>
        </p:grpSpPr>
        <p:sp>
          <p:nvSpPr>
            <p:cNvPr id="145" name="Google Shape;145;p25"/>
            <p:cNvSpPr/>
            <p:nvPr/>
          </p:nvSpPr>
          <p:spPr>
            <a:xfrm>
              <a:off x="1550074" y="17317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5"/>
            <p:cNvSpPr/>
            <p:nvPr/>
          </p:nvSpPr>
          <p:spPr>
            <a:xfrm>
              <a:off x="1550074" y="232679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5"/>
            <p:cNvSpPr/>
            <p:nvPr/>
          </p:nvSpPr>
          <p:spPr>
            <a:xfrm>
              <a:off x="1550074" y="3443407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1550074" y="28944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3295211" y="18481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5"/>
            <p:cNvSpPr/>
            <p:nvPr/>
          </p:nvSpPr>
          <p:spPr>
            <a:xfrm>
              <a:off x="3295211" y="244319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5"/>
            <p:cNvSpPr/>
            <p:nvPr/>
          </p:nvSpPr>
          <p:spPr>
            <a:xfrm>
              <a:off x="3295211" y="30108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5"/>
            <p:cNvSpPr/>
            <p:nvPr/>
          </p:nvSpPr>
          <p:spPr>
            <a:xfrm>
              <a:off x="5040336" y="163294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5"/>
            <p:cNvSpPr/>
            <p:nvPr/>
          </p:nvSpPr>
          <p:spPr>
            <a:xfrm>
              <a:off x="5040336" y="22280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5040336" y="3344632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5"/>
            <p:cNvSpPr/>
            <p:nvPr/>
          </p:nvSpPr>
          <p:spPr>
            <a:xfrm>
              <a:off x="5040336" y="279564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5"/>
            <p:cNvSpPr/>
            <p:nvPr/>
          </p:nvSpPr>
          <p:spPr>
            <a:xfrm>
              <a:off x="6683174" y="2029244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5"/>
            <p:cNvSpPr/>
            <p:nvPr/>
          </p:nvSpPr>
          <p:spPr>
            <a:xfrm>
              <a:off x="6683174" y="2624319"/>
              <a:ext cx="432600" cy="432600"/>
            </a:xfrm>
            <a:prstGeom prst="ellipse">
              <a:avLst/>
            </a:prstGeom>
            <a:solidFill>
              <a:srgbClr val="F3F3F3"/>
            </a:solidFill>
            <a:ln cap="flat" cmpd="sng" w="9525">
              <a:solidFill>
                <a:srgbClr val="4242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" name="Google Shape;158;p25"/>
            <p:cNvCxnSpPr>
              <a:stCxn id="145" idx="6"/>
              <a:endCxn id="149" idx="2"/>
            </p:cNvCxnSpPr>
            <p:nvPr/>
          </p:nvCxnSpPr>
          <p:spPr>
            <a:xfrm>
              <a:off x="1982674" y="1948019"/>
              <a:ext cx="1312500" cy="11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" name="Google Shape;159;p25"/>
            <p:cNvCxnSpPr>
              <a:stCxn id="146" idx="6"/>
              <a:endCxn id="149" idx="2"/>
            </p:cNvCxnSpPr>
            <p:nvPr/>
          </p:nvCxnSpPr>
          <p:spPr>
            <a:xfrm flipH="1" rot="10800000">
              <a:off x="1982674" y="2064294"/>
              <a:ext cx="1312500" cy="4788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0" name="Google Shape;160;p25"/>
            <p:cNvCxnSpPr>
              <a:stCxn id="148" idx="6"/>
              <a:endCxn id="149" idx="2"/>
            </p:cNvCxnSpPr>
            <p:nvPr/>
          </p:nvCxnSpPr>
          <p:spPr>
            <a:xfrm flipH="1" rot="10800000">
              <a:off x="1982674" y="2064319"/>
              <a:ext cx="1312500" cy="104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1" name="Google Shape;161;p25"/>
            <p:cNvCxnSpPr>
              <a:stCxn id="147" idx="6"/>
              <a:endCxn id="149" idx="2"/>
            </p:cNvCxnSpPr>
            <p:nvPr/>
          </p:nvCxnSpPr>
          <p:spPr>
            <a:xfrm flipH="1" rot="10800000">
              <a:off x="1982674" y="2064307"/>
              <a:ext cx="1312500" cy="1595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25"/>
            <p:cNvCxnSpPr>
              <a:stCxn id="145" idx="6"/>
              <a:endCxn id="150" idx="2"/>
            </p:cNvCxnSpPr>
            <p:nvPr/>
          </p:nvCxnSpPr>
          <p:spPr>
            <a:xfrm>
              <a:off x="1982674" y="1948019"/>
              <a:ext cx="1312500" cy="7116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25"/>
            <p:cNvCxnSpPr>
              <a:stCxn id="146" idx="6"/>
              <a:endCxn id="150" idx="2"/>
            </p:cNvCxnSpPr>
            <p:nvPr/>
          </p:nvCxnSpPr>
          <p:spPr>
            <a:xfrm>
              <a:off x="1982674" y="2543094"/>
              <a:ext cx="1312500" cy="11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4" name="Google Shape;164;p25"/>
            <p:cNvCxnSpPr>
              <a:stCxn id="148" idx="6"/>
              <a:endCxn id="150" idx="2"/>
            </p:cNvCxnSpPr>
            <p:nvPr/>
          </p:nvCxnSpPr>
          <p:spPr>
            <a:xfrm flipH="1" rot="10800000">
              <a:off x="1982674" y="2659519"/>
              <a:ext cx="1312500" cy="4512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" name="Google Shape;165;p25"/>
            <p:cNvCxnSpPr>
              <a:stCxn id="147" idx="6"/>
              <a:endCxn id="151" idx="2"/>
            </p:cNvCxnSpPr>
            <p:nvPr/>
          </p:nvCxnSpPr>
          <p:spPr>
            <a:xfrm flipH="1" rot="10800000">
              <a:off x="1982674" y="3227107"/>
              <a:ext cx="1312500" cy="4326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6" name="Google Shape;166;p25"/>
            <p:cNvCxnSpPr>
              <a:stCxn id="147" idx="6"/>
              <a:endCxn id="150" idx="2"/>
            </p:cNvCxnSpPr>
            <p:nvPr/>
          </p:nvCxnSpPr>
          <p:spPr>
            <a:xfrm flipH="1" rot="10800000">
              <a:off x="1982674" y="2659507"/>
              <a:ext cx="1312500" cy="10002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" name="Google Shape;167;p25"/>
            <p:cNvCxnSpPr>
              <a:stCxn id="148" idx="6"/>
              <a:endCxn id="151" idx="2"/>
            </p:cNvCxnSpPr>
            <p:nvPr/>
          </p:nvCxnSpPr>
          <p:spPr>
            <a:xfrm>
              <a:off x="1982674" y="3110719"/>
              <a:ext cx="1312500" cy="11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" name="Google Shape;168;p25"/>
            <p:cNvCxnSpPr>
              <a:stCxn id="146" idx="6"/>
              <a:endCxn id="151" idx="2"/>
            </p:cNvCxnSpPr>
            <p:nvPr/>
          </p:nvCxnSpPr>
          <p:spPr>
            <a:xfrm>
              <a:off x="1982674" y="2543094"/>
              <a:ext cx="1312500" cy="6840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9" name="Google Shape;169;p25"/>
            <p:cNvCxnSpPr>
              <a:stCxn id="145" idx="6"/>
              <a:endCxn id="151" idx="2"/>
            </p:cNvCxnSpPr>
            <p:nvPr/>
          </p:nvCxnSpPr>
          <p:spPr>
            <a:xfrm>
              <a:off x="1982674" y="1948019"/>
              <a:ext cx="1312500" cy="12792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0" name="Google Shape;170;p25"/>
            <p:cNvCxnSpPr>
              <a:stCxn id="149" idx="6"/>
              <a:endCxn id="152" idx="2"/>
            </p:cNvCxnSpPr>
            <p:nvPr/>
          </p:nvCxnSpPr>
          <p:spPr>
            <a:xfrm flipH="1" rot="10800000">
              <a:off x="3727811" y="1849319"/>
              <a:ext cx="1312500" cy="2151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1" name="Google Shape;171;p25"/>
            <p:cNvCxnSpPr>
              <a:stCxn id="150" idx="6"/>
              <a:endCxn id="152" idx="2"/>
            </p:cNvCxnSpPr>
            <p:nvPr/>
          </p:nvCxnSpPr>
          <p:spPr>
            <a:xfrm flipH="1" rot="10800000">
              <a:off x="3727811" y="1849194"/>
              <a:ext cx="1312500" cy="810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25"/>
            <p:cNvCxnSpPr>
              <a:stCxn id="151" idx="6"/>
              <a:endCxn id="152" idx="2"/>
            </p:cNvCxnSpPr>
            <p:nvPr/>
          </p:nvCxnSpPr>
          <p:spPr>
            <a:xfrm flipH="1" rot="10800000">
              <a:off x="3727811" y="1849219"/>
              <a:ext cx="1312500" cy="13779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" name="Google Shape;173;p25"/>
            <p:cNvCxnSpPr>
              <a:stCxn id="149" idx="6"/>
              <a:endCxn id="153" idx="2"/>
            </p:cNvCxnSpPr>
            <p:nvPr/>
          </p:nvCxnSpPr>
          <p:spPr>
            <a:xfrm>
              <a:off x="3727811" y="2064419"/>
              <a:ext cx="1312500" cy="3798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4" name="Google Shape;174;p25"/>
            <p:cNvCxnSpPr>
              <a:stCxn id="150" idx="6"/>
              <a:endCxn id="153" idx="2"/>
            </p:cNvCxnSpPr>
            <p:nvPr/>
          </p:nvCxnSpPr>
          <p:spPr>
            <a:xfrm flipH="1" rot="10800000">
              <a:off x="3727811" y="2444394"/>
              <a:ext cx="1312500" cy="2151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5" name="Google Shape;175;p25"/>
            <p:cNvCxnSpPr>
              <a:stCxn id="151" idx="6"/>
              <a:endCxn id="153" idx="2"/>
            </p:cNvCxnSpPr>
            <p:nvPr/>
          </p:nvCxnSpPr>
          <p:spPr>
            <a:xfrm flipH="1" rot="10800000">
              <a:off x="3727811" y="2444419"/>
              <a:ext cx="1312500" cy="7827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6" name="Google Shape;176;p25"/>
            <p:cNvCxnSpPr>
              <a:stCxn id="149" idx="6"/>
              <a:endCxn id="155" idx="2"/>
            </p:cNvCxnSpPr>
            <p:nvPr/>
          </p:nvCxnSpPr>
          <p:spPr>
            <a:xfrm>
              <a:off x="3727811" y="2064419"/>
              <a:ext cx="1312500" cy="947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" name="Google Shape;177;p25"/>
            <p:cNvCxnSpPr>
              <a:stCxn id="150" idx="6"/>
              <a:endCxn id="155" idx="2"/>
            </p:cNvCxnSpPr>
            <p:nvPr/>
          </p:nvCxnSpPr>
          <p:spPr>
            <a:xfrm>
              <a:off x="3727811" y="2659494"/>
              <a:ext cx="1312500" cy="352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" name="Google Shape;178;p25"/>
            <p:cNvCxnSpPr>
              <a:stCxn id="151" idx="6"/>
              <a:endCxn id="155" idx="2"/>
            </p:cNvCxnSpPr>
            <p:nvPr/>
          </p:nvCxnSpPr>
          <p:spPr>
            <a:xfrm flipH="1" rot="10800000">
              <a:off x="3727811" y="3012019"/>
              <a:ext cx="1312500" cy="2151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" name="Google Shape;179;p25"/>
            <p:cNvCxnSpPr>
              <a:stCxn id="151" idx="6"/>
              <a:endCxn id="154" idx="2"/>
            </p:cNvCxnSpPr>
            <p:nvPr/>
          </p:nvCxnSpPr>
          <p:spPr>
            <a:xfrm>
              <a:off x="3727811" y="3227119"/>
              <a:ext cx="1312500" cy="3339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" name="Google Shape;180;p25"/>
            <p:cNvCxnSpPr>
              <a:stCxn id="150" idx="6"/>
              <a:endCxn id="154" idx="2"/>
            </p:cNvCxnSpPr>
            <p:nvPr/>
          </p:nvCxnSpPr>
          <p:spPr>
            <a:xfrm>
              <a:off x="3727811" y="2659494"/>
              <a:ext cx="1312500" cy="901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" name="Google Shape;181;p25"/>
            <p:cNvCxnSpPr>
              <a:stCxn id="149" idx="6"/>
              <a:endCxn id="154" idx="2"/>
            </p:cNvCxnSpPr>
            <p:nvPr/>
          </p:nvCxnSpPr>
          <p:spPr>
            <a:xfrm>
              <a:off x="3727811" y="2064419"/>
              <a:ext cx="1312500" cy="14964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" name="Google Shape;182;p25"/>
            <p:cNvCxnSpPr>
              <a:stCxn id="152" idx="6"/>
              <a:endCxn id="156" idx="2"/>
            </p:cNvCxnSpPr>
            <p:nvPr/>
          </p:nvCxnSpPr>
          <p:spPr>
            <a:xfrm>
              <a:off x="5472936" y="1849244"/>
              <a:ext cx="1210200" cy="396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" name="Google Shape;183;p25"/>
            <p:cNvCxnSpPr>
              <a:stCxn id="153" idx="6"/>
              <a:endCxn id="156" idx="2"/>
            </p:cNvCxnSpPr>
            <p:nvPr/>
          </p:nvCxnSpPr>
          <p:spPr>
            <a:xfrm flipH="1" rot="10800000">
              <a:off x="5472936" y="2245419"/>
              <a:ext cx="1210200" cy="1989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" name="Google Shape;184;p25"/>
            <p:cNvCxnSpPr>
              <a:stCxn id="155" idx="6"/>
              <a:endCxn id="156" idx="2"/>
            </p:cNvCxnSpPr>
            <p:nvPr/>
          </p:nvCxnSpPr>
          <p:spPr>
            <a:xfrm flipH="1" rot="10800000">
              <a:off x="5472936" y="2245444"/>
              <a:ext cx="1210200" cy="766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5" name="Google Shape;185;p25"/>
            <p:cNvCxnSpPr>
              <a:stCxn id="154" idx="6"/>
              <a:endCxn id="156" idx="2"/>
            </p:cNvCxnSpPr>
            <p:nvPr/>
          </p:nvCxnSpPr>
          <p:spPr>
            <a:xfrm flipH="1" rot="10800000">
              <a:off x="5472936" y="2245432"/>
              <a:ext cx="1210200" cy="1315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6" name="Google Shape;186;p25"/>
            <p:cNvCxnSpPr>
              <a:stCxn id="152" idx="6"/>
              <a:endCxn id="157" idx="2"/>
            </p:cNvCxnSpPr>
            <p:nvPr/>
          </p:nvCxnSpPr>
          <p:spPr>
            <a:xfrm>
              <a:off x="5472936" y="1849244"/>
              <a:ext cx="1210200" cy="9915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7" name="Google Shape;187;p25"/>
            <p:cNvCxnSpPr>
              <a:stCxn id="153" idx="6"/>
              <a:endCxn id="157" idx="2"/>
            </p:cNvCxnSpPr>
            <p:nvPr/>
          </p:nvCxnSpPr>
          <p:spPr>
            <a:xfrm>
              <a:off x="5472936" y="2444319"/>
              <a:ext cx="1210200" cy="396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8" name="Google Shape;188;p25"/>
            <p:cNvCxnSpPr>
              <a:stCxn id="155" idx="6"/>
              <a:endCxn id="157" idx="2"/>
            </p:cNvCxnSpPr>
            <p:nvPr/>
          </p:nvCxnSpPr>
          <p:spPr>
            <a:xfrm flipH="1" rot="10800000">
              <a:off x="5472936" y="2840644"/>
              <a:ext cx="1210200" cy="171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" name="Google Shape;189;p25"/>
            <p:cNvCxnSpPr>
              <a:stCxn id="154" idx="6"/>
              <a:endCxn id="157" idx="2"/>
            </p:cNvCxnSpPr>
            <p:nvPr/>
          </p:nvCxnSpPr>
          <p:spPr>
            <a:xfrm flipH="1" rot="10800000">
              <a:off x="5472936" y="2840632"/>
              <a:ext cx="1210200" cy="720300"/>
            </a:xfrm>
            <a:prstGeom prst="straightConnector1">
              <a:avLst/>
            </a:prstGeom>
            <a:noFill/>
            <a:ln cap="flat" cmpd="sng" w="9525">
              <a:solidFill>
                <a:srgbClr val="42424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0" name="Google Shape;190;p25"/>
          <p:cNvSpPr/>
          <p:nvPr/>
        </p:nvSpPr>
        <p:spPr>
          <a:xfrm>
            <a:off x="2157838" y="2226450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6381163" y="2175725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Coupling with neural networks</a:t>
            </a:r>
            <a:endParaRPr/>
          </a:p>
        </p:txBody>
      </p:sp>
      <p:sp>
        <p:nvSpPr>
          <p:cNvPr id="197" name="Google Shape;197;p26"/>
          <p:cNvSpPr/>
          <p:nvPr/>
        </p:nvSpPr>
        <p:spPr>
          <a:xfrm>
            <a:off x="893311" y="1918550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1103137" y="212307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X</a:t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7185637" y="1994525"/>
            <a:ext cx="785100" cy="642900"/>
          </a:xfrm>
          <a:prstGeom prst="can">
            <a:avLst>
              <a:gd fmla="val 25000" name="adj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y</a:t>
            </a:r>
            <a:endParaRPr/>
          </a:p>
        </p:txBody>
      </p:sp>
      <p:sp>
        <p:nvSpPr>
          <p:cNvPr id="200" name="Google Shape;200;p26"/>
          <p:cNvSpPr/>
          <p:nvPr/>
        </p:nvSpPr>
        <p:spPr>
          <a:xfrm>
            <a:off x="2157838" y="2226450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/>
          <p:nvPr/>
        </p:nvSpPr>
        <p:spPr>
          <a:xfrm rot="10800000">
            <a:off x="6381163" y="2175725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3005613" y="1678175"/>
            <a:ext cx="3159000" cy="12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Open Sans"/>
                <a:ea typeface="Open Sans"/>
                <a:cs typeface="Open Sans"/>
                <a:sym typeface="Open Sans"/>
              </a:rPr>
              <a:t>Symbolic regression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6"/>
          <p:cNvSpPr/>
          <p:nvPr/>
        </p:nvSpPr>
        <p:spPr>
          <a:xfrm rot="5400000">
            <a:off x="4309138" y="3232050"/>
            <a:ext cx="631200" cy="28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907350" y="3484725"/>
            <a:ext cx="7329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   pick     score                                           equation       loss  complexity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0.000000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4.4324794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42.354317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1.255691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3.437307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0.011629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((x0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-0.28087974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3.358285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0.897855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((x0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6639BA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cos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(x3))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1.368308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0.857018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     ((x0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x0)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pt-BR" sz="1000">
                <a:solidFill>
                  <a:srgbClr val="6639BA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cos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(x3)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2.4566472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))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0.246483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&gt;&gt;&gt;&gt;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inf  (((</a:t>
            </a:r>
            <a:r>
              <a:rPr lang="pt-BR" sz="1000">
                <a:solidFill>
                  <a:srgbClr val="6639BA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cos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(x3)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-0.19699033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2.5382123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(x0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...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0.000000</a:t>
            </a:r>
            <a:r>
              <a:rPr lang="pt-BR" sz="1000">
                <a:solidFill>
                  <a:srgbClr val="1F2328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pt-BR" sz="1000">
                <a:solidFill>
                  <a:srgbClr val="0550A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Exercises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 </a:t>
            </a:r>
            <a:r>
              <a:rPr lang="pt-BR"/>
              <a:t>Add Gaussian noise to `y_sr` before passing it to PySR. How robust is the symbolic regression?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 </a:t>
            </a:r>
            <a:r>
              <a:rPr lang="pt-BR"/>
              <a:t>Change the PINN to solve the Burgers' equation (from Day 1) and try to distill the shockwave equation.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Remove "sin" from the unary_operators list. Can PySR approximate the sine wave using Taylor expansion terms (polynomials)?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